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a58d318-c6b1-8823-1698-10d933efe6d2}">
          <p14:sldIdLst>
            <p14:sldId id="256"/>
            <p14:sldId id="257"/>
          </p14:sldIdLst>
        </p14:section>
        <p14:section name="The problem" id="{01dce351-0ea1-e8e2-b51f-b0b97ca672ef}">
          <p14:sldIdLst>
            <p14:sldId id="258"/>
            <p14:sldId id="259"/>
            <p14:sldId id="260"/>
            <p14:sldId id="261"/>
            <p14:sldId id="262"/>
          </p14:sldIdLst>
        </p14:section>
        <p14:section name="Our idea" id="{3413f855-b651-2b6e-3228-cd838231c139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The teacher" id="{7b9649d2-58b7-8bba-eab9-f76016a98ca9}">
          <p14:sldIdLst>
            <p14:sldId id="273"/>
            <p14:sldId id="274"/>
            <p14:sldId id="275"/>
          </p14:sldIdLst>
        </p14:section>
        <p14:section name="Built for India" id="{be12fc75-c0c3-2705-b115-024574449aa9}">
          <p14:sldIdLst>
            <p14:sldId id="276"/>
            <p14:sldId id="277"/>
            <p14:sldId id="278"/>
          </p14:sldIdLst>
        </p14:section>
        <p14:section name="The plan" id="{661f8277-7409-d796-5cbb-e1ff5925756e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Close" id="{d6dc0c1c-cba9-19de-ed2b-c62b6421ce96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VidyaSaathi: Vidya (learning) + Saathi (companion). One line: an adaptive Learn-Solve-Test companion for Classes 6-10 that keeps the teacher at the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3D7F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347472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VidyaSaathi  ·  Code Kernel '26 Decode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logo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43000"/>
            <a:ext cx="3749040" cy="3749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CODE KERNEL '26  ·  DECODE ROUND  ·  IN COLLABORATION WITH CANVAS CLASSES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VidyaSaathi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14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3D7F2"/>
                </a:solidFill>
              </a:rPr>
              <a:t>विद्यासाथी  ·  a learning companion for every student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461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Adaptive Learn → Solve → Test for Classes 6 to 10, built on Indian board syllabi, with the school teacher at the centre</a:t>
            </a:r>
            <a:endParaRPr lang="en-US" sz="1800" dirty="0"/>
          </a:p>
        </p:txBody>
      </p:sp>
      <p:sp>
        <p:nvSpPr>
          <p:cNvPr id="7" name="team-box"/>
          <p:cNvSpPr/>
          <p:nvPr/>
        </p:nvSpPr>
        <p:spPr>
          <a:xfrm>
            <a:off x="731520" y="475488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2A375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91947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Team Binary Brains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53766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Sagnik Chandra (Team Lead)   ·   Shrusti Jain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57332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BCE8"/>
                </a:solidFill>
              </a:rPr>
              <a:t>Theme: Adaptive Learning for Classes 6 to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submission at a glance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Searc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Root causes, who is affected and why current options fall short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64992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639312" y="19659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LuLight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1442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02352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5661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How VidyaSaathi finds where a student stands and adapts Learn, Solve and Test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181344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6455664" y="1965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-LuGraduationC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21442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1870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teacher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35661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How it puts the school teacher back at the centre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8997696" y="169164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9272016" y="19659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-LuLay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4426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35056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5661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Architecture, tech stack, testing and how we will measure success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01 · DECODING THE PROBLEM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pace does not fit every learner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Same lesson, same questions, same speed, for 40+ students who are all at different places.</a:t>
            </a:r>
            <a:endParaRPr lang="en-US" sz="1800" dirty="0"/>
          </a:p>
        </p:txBody>
      </p:sp>
      <p:pic>
        <p:nvPicPr>
          <p:cNvPr id="5" name="logo-mark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57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CLASSROOM TODAY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grows quietly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lesson, different speeds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Aarav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514600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514600"/>
            <a:ext cx="3112618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2024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already understood, waiting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Meera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3566160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3566160"/>
            <a:ext cx="196230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20240" y="3904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keeping up, just about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Ravi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4617720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4617720"/>
            <a:ext cx="811987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920240" y="4956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stuck on a Class 6 basic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331720"/>
            <a:ext cx="0" cy="3108960"/>
          </a:xfrm>
          <a:prstGeom prst="line">
            <a:avLst/>
          </a:prstGeom>
          <a:noFill/>
          <a:ln w="15875">
            <a:solidFill>
              <a:srgbClr val="1E2942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3063240" y="544068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class pace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943600" y="1600200"/>
            <a:ext cx="56967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1" name="icon-bg"/>
          <p:cNvSpPr/>
          <p:nvPr/>
        </p:nvSpPr>
        <p:spPr>
          <a:xfrm>
            <a:off x="6217920" y="1984248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con-LuZ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454" y="2138782"/>
            <a:ext cx="285293" cy="28529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086600" y="18562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 learners get bored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22585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Kept at the class pace on topics they already know.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5943600" y="3154680"/>
            <a:ext cx="56967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6" name="icon-bg"/>
          <p:cNvSpPr/>
          <p:nvPr/>
        </p:nvSpPr>
        <p:spPr>
          <a:xfrm>
            <a:off x="6217920" y="3538728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con-LuTrendingD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454" y="3693262"/>
            <a:ext cx="285293" cy="285293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086600" y="3410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Strugglers fall behind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086600" y="3813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basic missed in Class 6 or 7 breaks the topics built on it.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5943600" y="4709160"/>
            <a:ext cx="56967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1" name="icon-bg"/>
          <p:cNvSpPr/>
          <p:nvPr/>
        </p:nvSpPr>
        <p:spPr>
          <a:xfrm>
            <a:off x="6217920" y="509320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LuEy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454" y="5247742"/>
            <a:ext cx="285293" cy="28529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086600" y="4965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Nobody really knows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7086600" y="5367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Tests come at chapter end, after the class has moved 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ROOT CAUSE ANALYSIS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gap stays hidden until it is too late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Feedback comes late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Understanding is checked at chapter end, not while the concept is being taught.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LuLay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Prerequisites are invisible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06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 one maps a Class 9 struggle back to the Class 7 idea underneath it.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u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017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teacher : 40+ students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606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teacher cannot track every student's every concept by hand.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LuLanguag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Language mismatch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Many students learn in a language different from the one spoken at home.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29768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icon-bg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icon-LuWifiOff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Uneven access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Shared family phones, limited data, low-end devices; some have none.</a:t>
            </a:r>
            <a:endParaRPr lang="en-US" sz="1500" dirty="0"/>
          </a:p>
        </p:txBody>
      </p:sp>
      <p:sp>
        <p:nvSpPr>
          <p:cNvPr id="29" name="card"/>
          <p:cNvSpPr/>
          <p:nvPr/>
        </p:nvSpPr>
        <p:spPr>
          <a:xfrm>
            <a:off x="804672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0" name="icon-bg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con-LuMessage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Doubts go unasked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Shy students don't ask in class; tuition adds hours, not understanding.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WHO WE ARE SOLVING FOR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people, one classroom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GraduationC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Age 11 to 16 · Classes 6 to 10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Learns at their own speed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Gets doubts answered at their class level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Practises what they are weak at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 English or Hindi, on a shared phone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4572000" y="18745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LuPresent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0647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teacher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Subject teacher and class teacher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Sees who needs help, and why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Answers escalated doubts their way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Builds tests and reads class reports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Stays the one who decides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04672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8321040" y="18745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LuSchoo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0647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35440" y="18928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23544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Admin and principal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2608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Board-aligned (CBSE and ICSE)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Teachers auto-assigned to classes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One view of class-wide progress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Low cost, works on existing devices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EXISTING OPTIONS AND THEIR LIMITS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another app won't fix this, but a different one can</a:t>
            </a:r>
            <a:endParaRPr lang="en-US" sz="3400" dirty="0"/>
          </a:p>
        </p:txBody>
      </p:sp>
      <p:graphicFrame>
        <p:nvGraphicFramePr>
          <p:cNvPr id="8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920240"/>
                <a:gridCol w="2011680"/>
                <a:gridCol w="2221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adaptive 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/ tuition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chatbots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VidyaSaathi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3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CBSE / ICSE textbook 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chapter by chapter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while learning, not 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asked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Learn, Solve and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grounded in the syllabus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go off-syllabus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Class-level, on-topic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and Indian 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at the centre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Bypasses teacher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teacher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teacher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decides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low-end devices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6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F94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lite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02 · OUR IDEA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VidyaSaathi: a saathi for every student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It notices where each student stands and changes what they learn next, how they learn it and how fast they go, while the teacher stays in charge.</a:t>
            </a:r>
            <a:endParaRPr lang="en-US" sz="1800" dirty="0"/>
          </a:p>
        </p:txBody>
      </p:sp>
      <p:pic>
        <p:nvPicPr>
          <p:cNvPr id="5" name="logo-mark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57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IDEA IN ONE PICTURE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Know, adapt, involve the teacher, repeat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514600" cy="278892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1417320" y="19202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40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Placement check and checkpoints find where the student stands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108960" y="3090672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3429000" y="1691640"/>
            <a:ext cx="2514600" cy="278892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4297680" y="1920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LuGau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762" y="21223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Difficulty, explanation and pace change after every answer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989320" y="3090672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6309360" y="1691640"/>
            <a:ext cx="2514600" cy="278892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7178040" y="19202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LuRepea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122" y="21223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53796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Practice and spaced review aim at weak concepts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8869680" y="3090672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9189720" y="1691640"/>
            <a:ext cx="2514600" cy="278892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10058400" y="19202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con-LuGraduationC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482" y="212232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72600" y="2834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Involve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941832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Teacher sees who needs focus and steps in</a:t>
            </a:r>
            <a:endParaRPr lang="en-US" sz="1400" dirty="0"/>
          </a:p>
        </p:txBody>
      </p:sp>
      <p:sp>
        <p:nvSpPr>
          <p:cNvPr id="27" name="promise"/>
          <p:cNvSpPr/>
          <p:nvPr/>
        </p:nvSpPr>
        <p:spPr>
          <a:xfrm>
            <a:off x="548640" y="480060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1E294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14400" y="495604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Our promise: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no student waits, no student is left behind unnoticed, and no teacher is replaced. Every adaptive decision is explained in plain words so students, teachers and parents can trust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QUESTION 01 · HOW WILL WE KNOW WHAT A STUDENT UNDERSTOOD?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signals build a live picture of each student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13232" y="172821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Clipboard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46" y="1863730"/>
            <a:ext cx="250180" cy="250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Placement check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93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~6 adaptive questions on day one set the starting level and skip what's known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6400800" y="1984248"/>
            <a:ext cx="594360" cy="0"/>
          </a:xfrm>
          <a:prstGeom prst="line">
            <a:avLst/>
          </a:prstGeom>
          <a:noFill/>
          <a:ln w="25400">
            <a:solidFill>
              <a:srgbClr val="3B66AE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548640" y="251460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713232" y="264261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LuVide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46" y="2778130"/>
            <a:ext cx="250180" cy="250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606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In-lesson checkpoints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907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lesson pauses at natural breaks to ask a question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6400800" y="2898648"/>
            <a:ext cx="594360" cy="0"/>
          </a:xfrm>
          <a:prstGeom prst="line">
            <a:avLst/>
          </a:prstGeom>
          <a:noFill/>
          <a:ln w="25400">
            <a:solidFill>
              <a:srgbClr val="3B66AE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548640" y="342900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713232" y="355701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LuMessage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" y="3692530"/>
            <a:ext cx="250180" cy="250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Doubts asked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3822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What, how often and on which topic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6400800" y="3813048"/>
            <a:ext cx="594360" cy="0"/>
          </a:xfrm>
          <a:prstGeom prst="line">
            <a:avLst/>
          </a:prstGeom>
          <a:noFill/>
          <a:ln w="25400">
            <a:solidFill>
              <a:srgbClr val="3B66AE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548640" y="434340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713232" y="447141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LuChart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46" y="4606930"/>
            <a:ext cx="250180" cy="2501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732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 and practice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417320" y="4736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Topic-wise scores from MCQ / MSQ tests and games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6400800" y="4727448"/>
            <a:ext cx="594360" cy="0"/>
          </a:xfrm>
          <a:prstGeom prst="line">
            <a:avLst/>
          </a:prstGeom>
          <a:noFill/>
          <a:ln w="25400">
            <a:solidFill>
              <a:srgbClr val="3B66AE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548640" y="5257800"/>
            <a:ext cx="576072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9" name="icon-bg"/>
          <p:cNvSpPr/>
          <p:nvPr/>
        </p:nvSpPr>
        <p:spPr>
          <a:xfrm>
            <a:off x="713232" y="5385816"/>
            <a:ext cx="521208" cy="52120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LuCalendarClo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" y="5521330"/>
            <a:ext cx="250180" cy="2501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17320" y="5349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Activity rhythm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1417320" y="5650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Streaks, time away, syllabus coverage</a:t>
            </a:r>
            <a:endParaRPr lang="en-US" sz="1300" dirty="0"/>
          </a:p>
        </p:txBody>
      </p:sp>
      <p:sp>
        <p:nvSpPr>
          <p:cNvPr id="33" name="arrow"/>
          <p:cNvSpPr/>
          <p:nvPr/>
        </p:nvSpPr>
        <p:spPr>
          <a:xfrm>
            <a:off x="6400800" y="5641848"/>
            <a:ext cx="594360" cy="0"/>
          </a:xfrm>
          <a:prstGeom prst="line">
            <a:avLst/>
          </a:prstGeom>
          <a:noFill/>
          <a:ln w="25400">
            <a:solidFill>
              <a:srgbClr val="3B66AE"/>
            </a:solidFill>
            <a:prstDash val="solid"/>
            <a:tailEnd type="triangle"/>
          </a:ln>
        </p:spPr>
      </p:sp>
      <p:sp>
        <p:nvSpPr>
          <p:cNvPr id="34" name="card"/>
          <p:cNvSpPr/>
          <p:nvPr/>
        </p:nvSpPr>
        <p:spPr>
          <a:xfrm>
            <a:off x="7132320" y="1600200"/>
            <a:ext cx="4507992" cy="4434840"/>
          </a:xfrm>
          <a:prstGeom prst="roundRect">
            <a:avLst>
              <a:gd name="adj" fmla="val 2474"/>
            </a:avLst>
          </a:prstGeom>
          <a:solidFill>
            <a:srgbClr val="F0F5FC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5" name="icon-bg"/>
          <p:cNvSpPr/>
          <p:nvPr/>
        </p:nvSpPr>
        <p:spPr>
          <a:xfrm>
            <a:off x="8942832" y="182880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6" name="icon-LuBrainCircuit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689" y="2054657"/>
            <a:ext cx="416966" cy="41696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406640" y="278892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 model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7498080" y="33375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Mastery for every concept of the syllabus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difficulty level, 1 to 5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Weak concepts and likely misconceptions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When each concept is due for review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'focus' signal for the teacher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QUESTION 01 · FROM SIGNALS TO DECISIONS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learner model drives every decision</a:t>
            </a:r>
            <a:endParaRPr lang="en-US" sz="3400" dirty="0"/>
          </a:p>
        </p:txBody>
      </p:sp>
      <p:sp>
        <p:nvSpPr>
          <p:cNvPr id="4" name="diagram-frame"/>
          <p:cNvSpPr/>
          <p:nvPr/>
        </p:nvSpPr>
        <p:spPr>
          <a:xfrm>
            <a:off x="1867700" y="1463040"/>
            <a:ext cx="8456295" cy="4800600"/>
          </a:xfrm>
          <a:prstGeom prst="roundRect">
            <a:avLst>
              <a:gd name="adj" fmla="val 1905"/>
            </a:avLst>
          </a:prstGeom>
          <a:solidFill>
            <a:srgbClr val="FBFAF6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pic>
        <p:nvPicPr>
          <p:cNvPr id="5" name="learner_model" descr="Five signals feed the learner model, which decides what the student, practice and teacher see 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140" y="1554480"/>
            <a:ext cx="827341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ADAPTING ALL THREE PARTS OF STUDYING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→ Solve → Test, each one adapts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BookOpe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Learn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Learning a concept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Board syllabus becomes a personal path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Short video lessons with a teacher avatar and visual boards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Checkpoints mid-lesson; re-explains when wrong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Ask a doubt any time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4096512" y="3840480"/>
            <a:ext cx="182880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429768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2" name="icon-bg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-LuWren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0528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Solve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Solving problems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926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Practice generated for your weakest concepts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Class- and subject-specific simulations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Topic-wise games that earn points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Harder stretch questions when you're ahead</a:t>
            </a:r>
            <a:endParaRPr lang="en-US" sz="1500" dirty="0"/>
          </a:p>
        </p:txBody>
      </p:sp>
      <p:sp>
        <p:nvSpPr>
          <p:cNvPr id="17" name="arrow"/>
          <p:cNvSpPr/>
          <p:nvPr/>
        </p:nvSpPr>
        <p:spPr>
          <a:xfrm>
            <a:off x="7845552" y="3840480"/>
            <a:ext cx="182880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8046720" y="160020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9" name="icon-bg"/>
          <p:cNvSpPr/>
          <p:nvPr/>
        </p:nvSpPr>
        <p:spPr>
          <a:xfrm>
            <a:off x="8321040" y="18745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-LuClipboar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20528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8972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Test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91897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Testing what you know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2926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Teacher-built MCQ / MSQ class tests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Topic-wise report for student and teacher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Class-only leaderboard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Spaced review before you forget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LEARN · ADAPTING HOW AND HOW FAST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syllabus becomes your own path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Board → Class → Subject → Chapter → Topic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651760"/>
            <a:ext cx="0" cy="365760"/>
          </a:xfrm>
          <a:prstGeom prst="line">
            <a:avLst/>
          </a:prstGeom>
          <a:noFill/>
          <a:ln w="25400">
            <a:solidFill>
              <a:srgbClr val="E7E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Integers in daily life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383280"/>
            <a:ext cx="0" cy="365760"/>
          </a:xfrm>
          <a:prstGeom prst="line">
            <a:avLst/>
          </a:prstGeom>
          <a:noFill/>
          <a:ln w="254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3035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Fractions on the number 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0358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114800"/>
            <a:ext cx="0" cy="365760"/>
          </a:xfrm>
          <a:prstGeom prst="line">
            <a:avLst/>
          </a:prstGeom>
          <a:noFill/>
          <a:ln w="25400">
            <a:solidFill>
              <a:srgbClr val="E7E3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3767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Equivalent fractions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767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now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4846320"/>
            <a:ext cx="0" cy="365760"/>
          </a:xfrm>
          <a:prstGeom prst="line">
            <a:avLst/>
          </a:prstGeom>
          <a:noFill/>
          <a:ln w="25400">
            <a:solidFill>
              <a:srgbClr val="E7E3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17320" y="4498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Recap: factors (Class 6)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498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auto-added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212080"/>
            <a:ext cx="365760" cy="365760"/>
          </a:xfrm>
          <a:prstGeom prst="ellipse">
            <a:avLst/>
          </a:prstGeom>
          <a:solidFill>
            <a:srgbClr val="ECE9D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17320" y="5230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Adding fractions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5230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next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760720" y="1600200"/>
            <a:ext cx="58795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6" name="icon-bg"/>
          <p:cNvSpPr/>
          <p:nvPr/>
        </p:nvSpPr>
        <p:spPr>
          <a:xfrm>
            <a:off x="598932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-LuM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854" y="2120494"/>
            <a:ext cx="285293" cy="285293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812280" y="1764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in textbook order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812280" y="21305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CBSE (NCERT 2025-26) and ICSE syllabi: 560 chapters and about 1,580 topics across Classes 6 to 10. Start anywhere or follow the path.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5760720" y="3118104"/>
            <a:ext cx="58795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1" name="icon-bg"/>
          <p:cNvSpPr/>
          <p:nvPr/>
        </p:nvSpPr>
        <p:spPr>
          <a:xfrm>
            <a:off x="5989320" y="3483864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LuGau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854" y="3638398"/>
            <a:ext cx="285293" cy="285293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812280" y="3282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difficulty, 1 to 5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6812280" y="36484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 right in a row: step up and go deeper. A miss: step down. The level carries into the next lesson.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5760720" y="4636008"/>
            <a:ext cx="587959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6" name="icon-bg"/>
          <p:cNvSpPr/>
          <p:nvPr/>
        </p:nvSpPr>
        <p:spPr>
          <a:xfrm>
            <a:off x="5989320" y="5001768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con-LuRepea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854" y="5156302"/>
            <a:ext cx="285293" cy="285293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81228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Re-explain ladder</a:t>
            </a:r>
            <a:endParaRPr lang="en-US" sz="1700" dirty="0"/>
          </a:p>
        </p:txBody>
      </p:sp>
      <p:sp>
        <p:nvSpPr>
          <p:cNvPr id="39" name="Text 34"/>
          <p:cNvSpPr txBox="1"/>
          <p:nvPr/>
        </p:nvSpPr>
        <p:spPr>
          <a:xfrm>
            <a:off x="681228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Wrong at a checkpoint: re-explain with a new example, then rebuild in simpler steps, then hand to the teacher.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LEARN · INSIDE A LESSON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video lesson that checks you understood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Vide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290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Watch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Avatar teacher + boards: diagrams, equations, plots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3108960" y="2807208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3429000" y="164592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703320" y="18745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LuCircleHel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854" y="20290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Checkpoint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2651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Video pauses for a quick question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5989320" y="2807208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6309360" y="164592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6583680" y="18745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con-LuGau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214" y="202905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Adapt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2651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Right: go deeper. Wrong: simpler, new example</a:t>
            </a:r>
            <a:endParaRPr lang="en-US" sz="1500" dirty="0"/>
          </a:p>
        </p:txBody>
      </p:sp>
      <p:sp>
        <p:nvSpPr>
          <p:cNvPr id="21" name="arrow"/>
          <p:cNvSpPr/>
          <p:nvPr/>
        </p:nvSpPr>
        <p:spPr>
          <a:xfrm>
            <a:off x="8869680" y="2807208"/>
            <a:ext cx="292608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9189720" y="1645920"/>
            <a:ext cx="251460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9464040" y="18745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con-LuLightbul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574" y="202905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1955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Why?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9464040" y="26517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change explained in one plain line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548640" y="4251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68680" y="446227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Voice in English and Hindi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Natural text-to-speech; boards render Devanagari correctly. Lessons can be paused and resumed exactly where they stopped.</a:t>
            </a:r>
            <a:endParaRPr lang="en-US" sz="1500" dirty="0"/>
          </a:p>
        </p:txBody>
      </p:sp>
      <p:sp>
        <p:nvSpPr>
          <p:cNvPr id="29" name="card"/>
          <p:cNvSpPr/>
          <p:nvPr/>
        </p:nvSpPr>
        <p:spPr>
          <a:xfrm>
            <a:off x="6199632" y="4251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0F5FC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6492240" y="446227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Example "Why?" entry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"You missed the checkpoint on equivalent fractions, so I explained it again using rotis cut into equal parts and lowered the level to 2."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LEARN · DOUBTS ANSWERED INSTANTLY, NEVER IGNORED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of doubt agents, with the teacher as the backstop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1207008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E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Listener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kind of doubt? meaning, why, how, example, numerical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578608" y="3017520"/>
            <a:ext cx="219456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816352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474720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LuBookMark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20985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3512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Librarian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99232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Where it sits: board, class, chapter, what the lesson said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4846320" y="3017520"/>
            <a:ext cx="219456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5084064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5742432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LuSparkl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20985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1224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Tutor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66944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Explains at class level; simpler on every retry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7114032" y="3017520"/>
            <a:ext cx="219456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7351776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8010144" y="1920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LuCircle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20985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88936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Checker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34656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Ends with one tiny question to self-test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9381744" y="3017520"/>
            <a:ext cx="219456" cy="0"/>
          </a:xfrm>
          <a:prstGeom prst="line">
            <a:avLst/>
          </a:prstGeom>
          <a:noFill/>
          <a:ln w="25400">
            <a:solidFill>
              <a:srgbClr val="8691A7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619488" y="1691640"/>
            <a:ext cx="2011680" cy="2651760"/>
          </a:xfrm>
          <a:prstGeom prst="roundRect">
            <a:avLst>
              <a:gd name="adj" fmla="val 5455"/>
            </a:avLst>
          </a:prstGeom>
          <a:solidFill>
            <a:srgbClr val="FBE7E2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9" name="icon-bg"/>
          <p:cNvSpPr/>
          <p:nvPr/>
        </p:nvSpPr>
        <p:spPr>
          <a:xfrm>
            <a:off x="10277856" y="19202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-LuGraduationC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64" y="209854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56648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Teacher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02368" y="3108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After 3 tries, escalated with full context</a:t>
            </a:r>
            <a:endParaRPr lang="en-US" sz="1300" dirty="0"/>
          </a:p>
        </p:txBody>
      </p:sp>
      <p:sp>
        <p:nvSpPr>
          <p:cNvPr id="33" name="card"/>
          <p:cNvSpPr/>
          <p:nvPr/>
        </p:nvSpPr>
        <p:spPr>
          <a:xfrm>
            <a:off x="548640" y="46177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777240" y="480060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Try 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Direct answer in 3–5 short sentences</a:t>
            </a:r>
            <a:endParaRPr lang="en-US" sz="1400" dirty="0"/>
          </a:p>
        </p:txBody>
      </p:sp>
      <p:sp>
        <p:nvSpPr>
          <p:cNvPr id="36" name="card"/>
          <p:cNvSpPr/>
          <p:nvPr/>
        </p:nvSpPr>
        <p:spPr>
          <a:xfrm>
            <a:off x="4297680" y="46177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4526280" y="480060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Try 2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52628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Step by step with an Indian example: cricket, a kirana shop, a train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8046720" y="46177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8275320" y="480060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Try 3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827532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Back to the most basic idea it depends 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SOLVE · PRACTICE THAT KNOWS YOUR WEAK SPOTS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doing, at your level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Targeted practice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Fresh questions aimed at your weakest concepts: easier where you struggled, a stretch where you're strong.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6464808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LuFlaskConic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Simulations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24 class- and subject-specific labs. Predict → run → see why. E.g. refraction, pendulum, fractions.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LuGamepad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3079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Topic games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Quiz Rush, True/False Blitz and Match-up turn revision into points, streaks and badges.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6464808" y="41605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Repea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209" y="43079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64808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Spaced review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4808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Mastered concepts come back after 2 → 5 → 12 → 30 → 60 days, just before you'd forget.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 · CHECKING WHAT YOU KNOW, AND WHAT TO DO NEXT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that lead to action, not just marks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64008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49808" y="1801368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-LuClipboard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953524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190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Teacher builds the test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MCQ and multi-select tests for their own class and subject, in minutes.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724912"/>
            <a:ext cx="64008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749808" y="2926080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-LuChartB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64" y="307823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84378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Topic-wise report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student sees which topics to revisit; the path updates on its own.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49624"/>
            <a:ext cx="64008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749808" y="4050792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-LuTroph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4202948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6849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Class-only leaderboard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325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Friendly, animated, and limited to the student's own class.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974336"/>
            <a:ext cx="640080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749808" y="5175504"/>
            <a:ext cx="585216" cy="585216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Us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5327660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50932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Teacher sees the class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4498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Who is doing well, who is falling behind, and on which topic.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7223760" y="1600200"/>
            <a:ext cx="4416552" cy="4434840"/>
          </a:xfrm>
          <a:prstGeom prst="roundRect">
            <a:avLst>
              <a:gd name="adj" fmla="val 2484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49808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Class 9 Maths · topic report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9808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 equations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0607040" y="2423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41%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498080" y="2752344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29" name="Shape 23"/>
          <p:cNvSpPr/>
          <p:nvPr/>
        </p:nvSpPr>
        <p:spPr>
          <a:xfrm>
            <a:off x="7498080" y="2752344"/>
            <a:ext cx="1593342" cy="20116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4980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Polynomials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060704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58%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7498080" y="3529584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33" name="Shape 27"/>
          <p:cNvSpPr/>
          <p:nvPr/>
        </p:nvSpPr>
        <p:spPr>
          <a:xfrm>
            <a:off x="7498080" y="3529584"/>
            <a:ext cx="2253996" cy="2011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49808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Coordinate geometry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10607040" y="3977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72%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498080" y="4306824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37" name="Shape 31"/>
          <p:cNvSpPr/>
          <p:nvPr/>
        </p:nvSpPr>
        <p:spPr>
          <a:xfrm>
            <a:off x="7498080" y="4306824"/>
            <a:ext cx="2798064" cy="2011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 systems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1060704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86%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7498080" y="5084064"/>
            <a:ext cx="3886200" cy="201168"/>
          </a:xfrm>
          <a:prstGeom prst="roundRect">
            <a:avLst>
              <a:gd name="adj" fmla="val 50000"/>
            </a:avLst>
          </a:prstGeom>
          <a:solidFill>
            <a:srgbClr val="ECE9DF"/>
          </a:solidFill>
          <a:ln/>
        </p:spPr>
      </p:sp>
      <p:sp>
        <p:nvSpPr>
          <p:cNvPr id="41" name="Shape 35"/>
          <p:cNvSpPr/>
          <p:nvPr/>
        </p:nvSpPr>
        <p:spPr>
          <a:xfrm>
            <a:off x="7498080" y="5084064"/>
            <a:ext cx="3342132" cy="2011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498080" y="54864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7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Revisit: Linear equations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0058400" y="5532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03 · GUIDING QUESTION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VidyaSaathi empower the school teacher?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AI does the noticing and the first answer. The teacher does the deciding and the teaching.</a:t>
            </a:r>
            <a:endParaRPr lang="en-US" sz="1800" dirty="0"/>
          </a:p>
        </p:txBody>
      </p:sp>
      <p:pic>
        <p:nvPicPr>
          <p:cNvPr id="5" name="logo-mark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57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TEACHER'S DESK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who needs you, why, and act in one click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77240" y="1828800"/>
            <a:ext cx="530352" cy="53035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n-LuTriangleAle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96669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Focus list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9631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Students ranked by how much they need attention now, each with plain reasons.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840480" y="160020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069080" y="182880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LuMessage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972" y="196669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6592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Doubt inbox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49631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Escalated doubts arrive with the full conversation and lesson context.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777240" y="411480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uVide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4252692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44752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Reply your way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78231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Text, notes, a recorded video (auto-deleted after 7 days) or schedule a live class.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840480" y="3886200"/>
            <a:ext cx="3108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4069080" y="4114800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Clipboard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972" y="425269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36592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Tests and reports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069080" y="478231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 class tests; read topic-wise results for the whole class.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7269480" y="1600200"/>
            <a:ext cx="4370832" cy="4434840"/>
          </a:xfrm>
          <a:prstGeom prst="roundRect">
            <a:avLst>
              <a:gd name="adj" fmla="val 251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754380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Need focus now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921240" y="1810512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DFEA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Class 9-B · Maths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498080" y="2377440"/>
            <a:ext cx="3913632" cy="987552"/>
          </a:xfrm>
          <a:prstGeom prst="roundRect">
            <a:avLst>
              <a:gd name="adj" fmla="val 9259"/>
            </a:avLst>
          </a:prstGeom>
          <a:solidFill>
            <a:srgbClr val="FBFAF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68096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Ravi K.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680960" y="2862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Test avg 38% · 3 doubts waiting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10607040" y="2551176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607040" y="2551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62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498080" y="3520440"/>
            <a:ext cx="3913632" cy="987552"/>
          </a:xfrm>
          <a:prstGeom prst="roundRect">
            <a:avLst>
              <a:gd name="adj" fmla="val 9259"/>
            </a:avLst>
          </a:prstGeom>
          <a:solidFill>
            <a:srgbClr val="FBFAF6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7680960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Sana M.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680960" y="4005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Inactive for 9 days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607040" y="3694176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1060704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41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498080" y="4663440"/>
            <a:ext cx="3913632" cy="987552"/>
          </a:xfrm>
          <a:prstGeom prst="roundRect">
            <a:avLst>
              <a:gd name="adj" fmla="val 9259"/>
            </a:avLst>
          </a:prstGeom>
          <a:solidFill>
            <a:srgbClr val="FBFAF6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680960" y="4782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Arjun P.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7680960" y="5148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Low scores in Polynomials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10607040" y="4837176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10607040" y="4837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24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7543800" y="5788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Illustrative view · focus score 0–100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DESIGNED WITH TEACHERS, NOT AROUND THEM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assists. The teacher decides.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LuEy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Transparent, not a black box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focus score uses simple published rules: low test average, doubts waiting, inactivity, weak subjects. A teacher can explain every flag to a parent.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6464808" y="18745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-LuHeartHandshak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Escalation brings them back in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AI tries run out, the student's own subject teacher takes over, with context, so no doubt is left hanging.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LuSchoo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3079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Matches how schools work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Subject teachers and class teachers per board and class; students auto-assigned evenly and consistently.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6464808" y="416052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Lu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209" y="43079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64808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Saves time, not adds work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4808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manual tracking. The desk sorts 40+ students so the first five minutes go to the ones who need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MUST HAVE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Indian students and classrooms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Not a copy of a global app: boards, languages, class sizes and real device access shaped every choice.</a:t>
            </a:r>
            <a:endParaRPr lang="en-US" sz="1800" dirty="0"/>
          </a:p>
        </p:txBody>
      </p:sp>
      <p:pic>
        <p:nvPicPr>
          <p:cNvPr id="5" name="logo-mark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57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QUESTION 03 · HOW WILL IT WORK IN A TYPICAL INDIAN SCHOOL?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for our boards, languages and devices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BookMark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CBSE and ICSE syllabi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Chapter by chapter in textbook order (NCERT 2025-26; Selina / Concise for ICSE). State boards next.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LuLanguag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0171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English and हिन्दी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60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Full interface, lessons and voice in Hindi; doubts in Hinglish are understood. More Indian languages planned.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LuIndianRupe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017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47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Indian examples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560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Cricket, kirana shops, trains, rotis, festivals, monsoon: explanations students recognise.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Smartph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Phone first, shared devices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937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 app plus native Android / iOS app; separate logins on one family phone.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29768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icon-bg"/>
          <p:cNvSpPr/>
          <p:nvPr/>
        </p:nvSpPr>
        <p:spPr>
          <a:xfrm>
            <a:off x="4572000" y="42519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-LuWifiOff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Low data, low cost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937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Hindi loaded only when chosen; lite install; built-in offline teacher works even without an AI key.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4672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0" name="icon-bg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con-LuUser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325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Large classes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937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Teacher desk is built to scan 40+ students fast: sort, filter and focus list.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KEY QUESTION 05 · WHO USES IT, AND HOW OFTEN?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into a normal school week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606040" cy="43434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GraduationC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0574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Daily · 20–30 min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lesson or practice set after school; doubts any time; games for quick revision.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64992" y="1691640"/>
            <a:ext cx="2606040" cy="43434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639312" y="1965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LuPresent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1442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teacher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291840"/>
            <a:ext cx="20574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Daily · 5–10 min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Check the focus list and doubt inbox; reply or schedule a live class.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181344" y="1691640"/>
            <a:ext cx="2606040" cy="43434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6455664" y="196596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-LuUser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21442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teacher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3291840"/>
            <a:ext cx="20574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Weekly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Review class progress across subjects; follow up with students who are inactive.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8997696" y="1691640"/>
            <a:ext cx="2606040" cy="43434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9272016" y="19659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-LuSchoo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14426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admin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3291840"/>
            <a:ext cx="20574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Monthly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8404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Assign teachers to classes; see syllabus coverage across the school.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04 · THE PLAN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974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build it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User journey, architecture, the engines inside it, tech stack and how we will measure success.</a:t>
            </a:r>
            <a:endParaRPr lang="en-US" sz="1800" dirty="0"/>
          </a:p>
        </p:txBody>
      </p:sp>
      <p:pic>
        <p:nvPicPr>
          <p:cNvPr id="5" name="logo-mark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57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USER FLOW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student's journey through VidyaSaathi</a:t>
            </a:r>
            <a:endParaRPr lang="en-US" sz="3400" dirty="0"/>
          </a:p>
        </p:txBody>
      </p:sp>
      <p:sp>
        <p:nvSpPr>
          <p:cNvPr id="4" name="diagram-frame"/>
          <p:cNvSpPr/>
          <p:nvPr/>
        </p:nvSpPr>
        <p:spPr>
          <a:xfrm>
            <a:off x="1867700" y="1463040"/>
            <a:ext cx="8456295" cy="4800600"/>
          </a:xfrm>
          <a:prstGeom prst="roundRect">
            <a:avLst>
              <a:gd name="adj" fmla="val 1905"/>
            </a:avLst>
          </a:prstGeom>
          <a:solidFill>
            <a:srgbClr val="FBFAF6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pic>
        <p:nvPicPr>
          <p:cNvPr id="5" name="student_journey" descr="Student journey: sign up, placement check, learning path, video lesson, checkpoint, doubts, practice, class test, spaced review, with teacher touch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140" y="1554480"/>
            <a:ext cx="827341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architecture</a:t>
            </a:r>
            <a:endParaRPr lang="en-US" sz="3400" dirty="0"/>
          </a:p>
        </p:txBody>
      </p:sp>
      <p:sp>
        <p:nvSpPr>
          <p:cNvPr id="4" name="diagram-frame"/>
          <p:cNvSpPr/>
          <p:nvPr/>
        </p:nvSpPr>
        <p:spPr>
          <a:xfrm>
            <a:off x="1867700" y="1463040"/>
            <a:ext cx="8456295" cy="4800600"/>
          </a:xfrm>
          <a:prstGeom prst="roundRect">
            <a:avLst>
              <a:gd name="adj" fmla="val 1905"/>
            </a:avLst>
          </a:prstGeom>
          <a:solidFill>
            <a:srgbClr val="FBFAF6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pic>
        <p:nvPicPr>
          <p:cNvPr id="5" name="system_architecture" descr="Four-layer architecture: users, apps, backend and AI services,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140" y="1554480"/>
            <a:ext cx="827341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COMPONENT DEEP-DIVE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teaching engine</a:t>
            </a:r>
            <a:endParaRPr lang="en-US" sz="3400" dirty="0"/>
          </a:p>
        </p:txBody>
      </p:sp>
      <p:sp>
        <p:nvSpPr>
          <p:cNvPr id="4" name="diagram-frame"/>
          <p:cNvSpPr/>
          <p:nvPr/>
        </p:nvSpPr>
        <p:spPr>
          <a:xfrm>
            <a:off x="1867700" y="1463040"/>
            <a:ext cx="8456295" cy="4800600"/>
          </a:xfrm>
          <a:prstGeom prst="roundRect">
            <a:avLst>
              <a:gd name="adj" fmla="val 1905"/>
            </a:avLst>
          </a:prstGeom>
          <a:solidFill>
            <a:srgbClr val="FBFAF6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pic>
        <p:nvPicPr>
          <p:cNvPr id="5" name="adaptive_teaching_engine" descr="Seven-step teaching loop with right and wrong answer bran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140" y="1554480"/>
            <a:ext cx="827341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COMPONENT DEEP-DIVE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Doubt resolution and teacher escalation</a:t>
            </a:r>
            <a:endParaRPr lang="en-US" sz="3400" dirty="0"/>
          </a:p>
        </p:txBody>
      </p:sp>
      <p:sp>
        <p:nvSpPr>
          <p:cNvPr id="4" name="diagram-frame"/>
          <p:cNvSpPr/>
          <p:nvPr/>
        </p:nvSpPr>
        <p:spPr>
          <a:xfrm>
            <a:off x="1867700" y="1463040"/>
            <a:ext cx="8456295" cy="4800600"/>
          </a:xfrm>
          <a:prstGeom prst="roundRect">
            <a:avLst>
              <a:gd name="adj" fmla="val 1905"/>
            </a:avLst>
          </a:prstGeom>
          <a:solidFill>
            <a:srgbClr val="FBFAF6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pic>
        <p:nvPicPr>
          <p:cNvPr id="5" name="doubt_resolution_escalation" descr="Four doubt agents with escalation to the subject teacher after three t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9140" y="1554480"/>
            <a:ext cx="827341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PLANNED APPROACH AND TECH STACK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Proven, low-cost, open technology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04672" y="1965960"/>
            <a:ext cx="621792" cy="6217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Smartph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" y="2127626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305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Next.js 16 · React 19 · TypeScript · Tailwind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Expo React Native for Android / iOS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600200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6446520" y="1965960"/>
            <a:ext cx="621792" cy="62179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con-LuServ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86" y="2127626"/>
            <a:ext cx="298460" cy="298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7768" y="1764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87768" y="21305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· FastAPI · WebSockets for live lessons · JWT auth with OTP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118104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04672" y="3483864"/>
            <a:ext cx="621792" cy="62179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-LuBrainCircui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38" y="3645530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agents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6484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Google Gemini · multi-agent tutor on a 7-state loop · offline rule-based fallback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118104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6446520" y="3483864"/>
            <a:ext cx="621792" cy="6217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LuBookMarke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186" y="3645530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87768" y="32826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Grounding (RAG)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87768" y="364845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BGE-M3 hybrid search · ChromaDB · cross-encoder reranker · cited answers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636008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icon-bg"/>
          <p:cNvSpPr/>
          <p:nvPr/>
        </p:nvSpPr>
        <p:spPr>
          <a:xfrm>
            <a:off x="804672" y="5001768"/>
            <a:ext cx="621792" cy="62179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-LuVide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338" y="5163434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Media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645920" y="5166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Edge-TTS (English, Hindi) · illustrated avatar · Matplotlib / LaTeX boards · FFmpeg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190488" y="4636008"/>
            <a:ext cx="5449824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0" name="icon-bg"/>
          <p:cNvSpPr/>
          <p:nvPr/>
        </p:nvSpPr>
        <p:spPr>
          <a:xfrm>
            <a:off x="6446520" y="5001768"/>
            <a:ext cx="621792" cy="621792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con-LuDatabas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186" y="5163434"/>
            <a:ext cx="298460" cy="298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87768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Data and ops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7287768" y="51663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SQLite (WAL) → PostgreSQL at scale · Docker · tests and eval suites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RESPONSIBLE AI FOR CHILDREN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explainable and on-syllabus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-LuBookMark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219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Stays on the syllabus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Answers are grounded in the student's board, class and current lesson; off-topic questions are declined, not guessed.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90488" y="1600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6464808" y="18745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-LuLightbul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4808" y="2578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Every decision explained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64808" y="2990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"Why?" log records each adaptive change in plain words for the student and teacher.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-LuShiel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3079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Child-safe by design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Class-only leaderboards, teacher videos auto-deleted after 7 days, OTP-verified accounts, rate limits.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90488" y="3886200"/>
            <a:ext cx="5449824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6464808" y="416052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Cpu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209" y="43079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64808" y="4864608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Works without the cloud AI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64808" y="5276088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built-in offline teacher builds answers from lesson notes, so learning never stops.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HOW WE WILL MEASURE SUCCESS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 plan with clear, honest targets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Schoo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Where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671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1–2 partner schools, Classes 7 and 9, Maths and Science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52628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LuCalendarC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19257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long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21671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weeks, alongside normal classes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LuClipboard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9257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Baseline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006840" y="216712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pre-test and post-test for every student, plus a teacher survey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Targets we will measure against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548640" y="3657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858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3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mastery gain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5120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post-test vs pre-test on pilot topics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3364992" y="3657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3502152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7 days</a:t>
            </a:r>
            <a:endParaRPr lang="en-US" sz="3800" dirty="0"/>
          </a:p>
        </p:txBody>
      </p:sp>
      <p:sp>
        <p:nvSpPr>
          <p:cNvPr id="26" name="Text 21"/>
          <p:cNvSpPr txBox="1"/>
          <p:nvPr/>
        </p:nvSpPr>
        <p:spPr>
          <a:xfrm>
            <a:off x="3547872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 catch a gap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3593592" y="5120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from first miss to a fix or teacher flag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181344" y="3657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6318504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3800" dirty="0"/>
          </a:p>
        </p:txBody>
      </p:sp>
      <p:sp>
        <p:nvSpPr>
          <p:cNvPr id="30" name="Text 25"/>
          <p:cNvSpPr txBox="1"/>
          <p:nvPr/>
        </p:nvSpPr>
        <p:spPr>
          <a:xfrm>
            <a:off x="6364224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doubts solved by AI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6409944" y="5120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rest reach the teacher with context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8997696" y="365760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9134856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min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9180576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time / day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226296" y="5120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 review focus list and doubts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 SUMMARY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VidyaSaathi fits the challenge</a:t>
            </a:r>
            <a:endParaRPr lang="en-US" sz="34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1109167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31520" y="167335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Lu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12" y="1811244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64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Understands where each student stands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6642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Placement check, checkpoints, doubts and tests feed one learner model per concept.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450592"/>
            <a:ext cx="1109167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731520" y="2569464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LuGau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2" y="2707356"/>
            <a:ext cx="254569" cy="2545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Adapts Learn, Solve and Test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2560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What comes next, how it's explained and how fast: after every single answer.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346704"/>
            <a:ext cx="1109167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731520" y="3465576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-LuMapP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2" y="3603468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4564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Fits Indian classrooms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34564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CBSE and ICSE in textbook order, English and Hindi, phone-first and low data.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4242816"/>
            <a:ext cx="1109167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731520" y="4361688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con-LuGraduationC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2" y="449958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3525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Empowers teachers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43525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focus list with reasons, a doubt inbox and class reports. The teacher decides.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548640" y="5138928"/>
            <a:ext cx="1109167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9525">
            <a:solidFill>
              <a:srgbClr val="E7E3D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942">
                <a:alpha val="12000"/>
              </a:srgbClr>
            </a:outerShdw>
          </a:effectLst>
        </p:spPr>
      </p:sp>
      <p:sp>
        <p:nvSpPr>
          <p:cNvPr id="25" name="icon-bg"/>
          <p:cNvSpPr/>
          <p:nvPr/>
        </p:nvSpPr>
        <p:spPr>
          <a:xfrm>
            <a:off x="731520" y="5257800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con-LuSmartph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2" y="5395692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2486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Practical and usable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0" y="524865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Short lessons, games and streaks for ages 11–16; transparent, child-safe 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91A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e-logo" descr="/private/tmp/claude-501/-Users-shrustijain-Documents-Projects-vidya-saathi-VidyaSaathi/378b4943-5406-4a12-b50b-23dd5144403c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64008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5204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धन्यवाद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D7F2"/>
                </a:solidFill>
              </a:rPr>
              <a:t>VidyaSaathi: every student at their own pace, every teacher at the centre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Team Binary Brains   ·   Sagnik Chandra (Team Lead)   ·   Shrusti Jain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669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BCE8"/>
                </a:solidFill>
              </a:rPr>
              <a:t>Code Kernel '26  ·  X-Kernel, GRIET  ·  in collaboration with Canvas Classes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agaz">
  <a:themeElements>
    <a:clrScheme name="Kaagaz">
      <a:dk1>
        <a:srgbClr val="1E2942"/>
      </a:dk1>
      <a:lt1>
        <a:srgbClr val="FFFFFF"/>
      </a:lt1>
      <a:dk2>
        <a:srgbClr val="4A5671"/>
      </a:dk2>
      <a:lt2>
        <a:srgbClr val="FBFAF6"/>
      </a:lt2>
      <a:accent1>
        <a:srgbClr val="3B66AE"/>
      </a:accent1>
      <a:accent2>
        <a:srgbClr val="F0C35A"/>
      </a:accent2>
      <a:accent3>
        <a:srgbClr val="E5917F"/>
      </a:accent3>
      <a:accent4>
        <a:srgbClr val="5F9474"/>
      </a:accent4>
      <a:accent5>
        <a:srgbClr val="2F528C"/>
      </a:accent5>
      <a:accent6>
        <a:srgbClr val="C96666"/>
      </a:accent6>
      <a:hlink>
        <a:srgbClr val="3B66AE"/>
      </a:hlink>
      <a:folHlink>
        <a:srgbClr val="2F528C"/>
      </a:folHlink>
    </a:clrScheme>
    <a:fontScheme name="Kaaga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VidyaSaathi | Code Kernel '26 Decode</dc:title>
  <dc:subject>PptxGenJS Presentation</dc:subject>
  <dc:creator>Team Binary Brains</dc:creator>
  <cp:lastModifiedBy>Team Binary Brains</cp:lastModifiedBy>
  <cp:revision>1</cp:revision>
  <dcterms:created xsi:type="dcterms:W3CDTF">2026-10-26T15:51:30Z</dcterms:created>
  <dcterms:modified xsi:type="dcterms:W3CDTF">2026-10-26T15:51:30Z</dcterms:modified>
</cp:coreProperties>
</file>